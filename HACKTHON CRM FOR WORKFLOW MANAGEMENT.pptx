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62" r:id="rId7"/>
    <p:sldId id="330" r:id="rId8"/>
    <p:sldId id="319" r:id="rId9"/>
    <p:sldId id="313" r:id="rId10"/>
    <p:sldId id="322" r:id="rId11"/>
    <p:sldId id="323" r:id="rId12"/>
    <p:sldId id="324" r:id="rId13"/>
    <p:sldId id="333" r:id="rId14"/>
    <p:sldId id="335" r:id="rId15"/>
    <p:sldId id="337" r:id="rId16"/>
    <p:sldId id="336" r:id="rId17"/>
    <p:sldId id="332" r:id="rId18"/>
    <p:sldId id="329" r:id="rId19"/>
    <p:sldId id="32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6" autoAdjust="0"/>
    <p:restoredTop sz="95660" autoAdjust="0"/>
  </p:normalViewPr>
  <p:slideViewPr>
    <p:cSldViewPr snapToGrid="0">
      <p:cViewPr varScale="1">
        <p:scale>
          <a:sx n="67" d="100"/>
          <a:sy n="67" d="100"/>
        </p:scale>
        <p:origin x="762" y="72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E7BC-C4AA-EC47-4FB9-CFCBCD64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465EB-2B89-1FC2-BE89-4085B5651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56B3B-BAC9-35F0-904F-843FC0916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E6B6A-03F2-86D7-D373-F1C0F63C8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6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75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D3DF-B617-A24D-E416-D1ABA61E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3942F-4E1D-CA00-1A93-11349C8E9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EBED8-5522-A705-A9A6-895F35F3E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2F67C-279E-9B77-B02C-F0F90E490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06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BD8F-F554-71DD-6897-F1030CE7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4C739-C116-358C-2E0B-DEB102CF8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58D9-0AE9-523F-6CF9-1ED32C29D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4C3FE-3C12-7FA4-0525-F05F65B01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72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4306-0718-65B6-3A95-0FB601F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DD78E-F3E1-4E92-405C-F246AE293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C0C09-A268-2680-F823-096C7E68A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05CB2-D70B-7658-BFBF-B406D3AF1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2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E2AB-165F-711E-B4BE-AD1DFE6C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8E312-F48C-BB39-DBE8-D859258A3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DCE29-DE2E-DBE8-97E6-6C5CA4E91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3C682-3DAA-E576-1270-14E7C898C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0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73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11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17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56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4215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76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45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8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87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72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38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71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568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99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53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672" r:id="rId1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150" y="1069152"/>
            <a:ext cx="10017775" cy="4106288"/>
          </a:xfrm>
        </p:spPr>
        <p:txBody>
          <a:bodyPr>
            <a:noAutofit/>
          </a:bodyPr>
          <a:lstStyle/>
          <a:p>
            <a:r>
              <a:rPr lang="en-US" dirty="0"/>
              <a:t>CRM Workflow Management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213;p18">
            <a:extLst>
              <a:ext uri="{FF2B5EF4-FFF2-40B4-BE49-F238E27FC236}">
                <a16:creationId xmlns:a16="http://schemas.microsoft.com/office/drawing/2014/main" id="{F9ADD6EC-AFCC-8F5D-82C2-7DF1F682E32A}"/>
              </a:ext>
            </a:extLst>
          </p:cNvPr>
          <p:cNvGrpSpPr/>
          <p:nvPr/>
        </p:nvGrpSpPr>
        <p:grpSpPr>
          <a:xfrm>
            <a:off x="1759843" y="2083726"/>
            <a:ext cx="3861900" cy="1072488"/>
            <a:chOff x="710275" y="1452275"/>
            <a:chExt cx="3861900" cy="1072488"/>
          </a:xfrm>
        </p:grpSpPr>
        <p:sp>
          <p:nvSpPr>
            <p:cNvPr id="11" name="Google Shape;214;p18">
              <a:extLst>
                <a:ext uri="{FF2B5EF4-FFF2-40B4-BE49-F238E27FC236}">
                  <a16:creationId xmlns:a16="http://schemas.microsoft.com/office/drawing/2014/main" id="{143F69CC-89F2-E2EF-72C7-3B8D7212876D}"/>
                </a:ext>
              </a:extLst>
            </p:cNvPr>
            <p:cNvSpPr/>
            <p:nvPr/>
          </p:nvSpPr>
          <p:spPr>
            <a:xfrm>
              <a:off x="710275" y="14522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400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M.Janakiram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12" name="Google Shape;215;p18">
              <a:extLst>
                <a:ext uri="{FF2B5EF4-FFF2-40B4-BE49-F238E27FC236}">
                  <a16:creationId xmlns:a16="http://schemas.microsoft.com/office/drawing/2014/main" id="{61F1FC00-CFB8-AF7F-FED6-25E32CB54E86}"/>
                </a:ext>
              </a:extLst>
            </p:cNvPr>
            <p:cNvSpPr txBox="1"/>
            <p:nvPr/>
          </p:nvSpPr>
          <p:spPr>
            <a:xfrm>
              <a:off x="1340730" y="1569113"/>
              <a:ext cx="1701896" cy="9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Roboto"/>
                  <a:ea typeface="Roboto"/>
                  <a:cs typeface="Roboto"/>
                  <a:sym typeface="Roboto"/>
                </a:rPr>
                <a:t>231FA04030</a:t>
              </a:r>
              <a:endParaRPr sz="16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216;p18">
              <a:extLst>
                <a:ext uri="{FF2B5EF4-FFF2-40B4-BE49-F238E27FC236}">
                  <a16:creationId xmlns:a16="http://schemas.microsoft.com/office/drawing/2014/main" id="{C9357F77-A22D-148A-D71F-A08A77A4B13A}"/>
                </a:ext>
              </a:extLst>
            </p:cNvPr>
            <p:cNvSpPr/>
            <p:nvPr/>
          </p:nvSpPr>
          <p:spPr>
            <a:xfrm>
              <a:off x="773579" y="1498027"/>
              <a:ext cx="380400" cy="38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217;p18">
            <a:extLst>
              <a:ext uri="{FF2B5EF4-FFF2-40B4-BE49-F238E27FC236}">
                <a16:creationId xmlns:a16="http://schemas.microsoft.com/office/drawing/2014/main" id="{FA020E32-5EC8-91E0-2605-E17C0EEE8EF2}"/>
              </a:ext>
            </a:extLst>
          </p:cNvPr>
          <p:cNvGrpSpPr/>
          <p:nvPr/>
        </p:nvGrpSpPr>
        <p:grpSpPr>
          <a:xfrm>
            <a:off x="1772162" y="3527280"/>
            <a:ext cx="3861900" cy="1172892"/>
            <a:chOff x="710278" y="2888183"/>
            <a:chExt cx="3861900" cy="1172892"/>
          </a:xfrm>
        </p:grpSpPr>
        <p:sp>
          <p:nvSpPr>
            <p:cNvPr id="15" name="Google Shape;218;p18">
              <a:extLst>
                <a:ext uri="{FF2B5EF4-FFF2-40B4-BE49-F238E27FC236}">
                  <a16:creationId xmlns:a16="http://schemas.microsoft.com/office/drawing/2014/main" id="{2C58190D-2C3E-9B45-4DCE-9F237B31F976}"/>
                </a:ext>
              </a:extLst>
            </p:cNvPr>
            <p:cNvSpPr/>
            <p:nvPr/>
          </p:nvSpPr>
          <p:spPr>
            <a:xfrm>
              <a:off x="710278" y="35891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4007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dirty="0">
                  <a:solidFill>
                    <a:srgbClr val="FFFFFF"/>
                  </a:solidFill>
                </a:rPr>
                <a:t>Shaik </a:t>
              </a:r>
              <a:r>
                <a:rPr lang="en-IN" dirty="0" err="1">
                  <a:solidFill>
                    <a:srgbClr val="FFFFFF"/>
                  </a:solidFill>
                </a:rPr>
                <a:t>Abeda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219;p18">
              <a:extLst>
                <a:ext uri="{FF2B5EF4-FFF2-40B4-BE49-F238E27FC236}">
                  <a16:creationId xmlns:a16="http://schemas.microsoft.com/office/drawing/2014/main" id="{EBE470D2-BA85-4353-9253-99B8F2814E69}"/>
                </a:ext>
              </a:extLst>
            </p:cNvPr>
            <p:cNvSpPr txBox="1"/>
            <p:nvPr/>
          </p:nvSpPr>
          <p:spPr>
            <a:xfrm>
              <a:off x="1305607" y="2888183"/>
              <a:ext cx="1663466" cy="955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Roboto"/>
                  <a:ea typeface="Roboto"/>
                  <a:cs typeface="Roboto"/>
                  <a:sym typeface="Roboto"/>
                </a:rPr>
                <a:t>231FA04754</a:t>
              </a:r>
              <a:endParaRPr sz="16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220;p18">
              <a:extLst>
                <a:ext uri="{FF2B5EF4-FFF2-40B4-BE49-F238E27FC236}">
                  <a16:creationId xmlns:a16="http://schemas.microsoft.com/office/drawing/2014/main" id="{E3F244B8-0D96-4A01-623C-EF0AEBE2937A}"/>
                </a:ext>
              </a:extLst>
            </p:cNvPr>
            <p:cNvSpPr/>
            <p:nvPr/>
          </p:nvSpPr>
          <p:spPr>
            <a:xfrm>
              <a:off x="773579" y="3634937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21;p18">
            <a:extLst>
              <a:ext uri="{FF2B5EF4-FFF2-40B4-BE49-F238E27FC236}">
                <a16:creationId xmlns:a16="http://schemas.microsoft.com/office/drawing/2014/main" id="{2A80D111-7E98-E449-4808-979347F9BF75}"/>
              </a:ext>
            </a:extLst>
          </p:cNvPr>
          <p:cNvGrpSpPr/>
          <p:nvPr/>
        </p:nvGrpSpPr>
        <p:grpSpPr>
          <a:xfrm>
            <a:off x="5633971" y="2091372"/>
            <a:ext cx="3861900" cy="1156703"/>
            <a:chOff x="4572087" y="1452275"/>
            <a:chExt cx="3861900" cy="1156703"/>
          </a:xfrm>
        </p:grpSpPr>
        <p:sp>
          <p:nvSpPr>
            <p:cNvPr id="20" name="Google Shape;222;p18">
              <a:extLst>
                <a:ext uri="{FF2B5EF4-FFF2-40B4-BE49-F238E27FC236}">
                  <a16:creationId xmlns:a16="http://schemas.microsoft.com/office/drawing/2014/main" id="{39B209C3-CF5D-E6FD-2D16-E9BF55C61346}"/>
                </a:ext>
              </a:extLst>
            </p:cNvPr>
            <p:cNvSpPr/>
            <p:nvPr/>
          </p:nvSpPr>
          <p:spPr>
            <a:xfrm>
              <a:off x="4572087" y="14522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5486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Akshay Kumar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21" name="Google Shape;223;p18">
              <a:extLst>
                <a:ext uri="{FF2B5EF4-FFF2-40B4-BE49-F238E27FC236}">
                  <a16:creationId xmlns:a16="http://schemas.microsoft.com/office/drawing/2014/main" id="{B13D4044-B5E7-FDEC-3B24-691CBEF01F74}"/>
                </a:ext>
              </a:extLst>
            </p:cNvPr>
            <p:cNvSpPr txBox="1"/>
            <p:nvPr/>
          </p:nvSpPr>
          <p:spPr>
            <a:xfrm>
              <a:off x="6117864" y="1653334"/>
              <a:ext cx="1758016" cy="9556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Roboto"/>
                  <a:ea typeface="Roboto"/>
                  <a:cs typeface="Roboto"/>
                  <a:sym typeface="Roboto"/>
                </a:rPr>
                <a:t>231FA04510</a:t>
              </a:r>
              <a:endParaRPr sz="16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224;p18">
              <a:extLst>
                <a:ext uri="{FF2B5EF4-FFF2-40B4-BE49-F238E27FC236}">
                  <a16:creationId xmlns:a16="http://schemas.microsoft.com/office/drawing/2014/main" id="{11D5D031-11C8-EB49-95EC-00099D81912F}"/>
                </a:ext>
              </a:extLst>
            </p:cNvPr>
            <p:cNvSpPr/>
            <p:nvPr/>
          </p:nvSpPr>
          <p:spPr>
            <a:xfrm>
              <a:off x="7990183" y="1498014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25;p18">
            <a:extLst>
              <a:ext uri="{FF2B5EF4-FFF2-40B4-BE49-F238E27FC236}">
                <a16:creationId xmlns:a16="http://schemas.microsoft.com/office/drawing/2014/main" id="{C4D96869-CA6A-683B-C6FE-8D7D043E485E}"/>
              </a:ext>
            </a:extLst>
          </p:cNvPr>
          <p:cNvGrpSpPr/>
          <p:nvPr/>
        </p:nvGrpSpPr>
        <p:grpSpPr>
          <a:xfrm>
            <a:off x="5633756" y="3496490"/>
            <a:ext cx="3861900" cy="1203682"/>
            <a:chOff x="4571915" y="2857393"/>
            <a:chExt cx="3861900" cy="1203682"/>
          </a:xfrm>
        </p:grpSpPr>
        <p:sp>
          <p:nvSpPr>
            <p:cNvPr id="24" name="Google Shape;226;p18">
              <a:extLst>
                <a:ext uri="{FF2B5EF4-FFF2-40B4-BE49-F238E27FC236}">
                  <a16:creationId xmlns:a16="http://schemas.microsoft.com/office/drawing/2014/main" id="{245F5340-D179-1CE3-25A6-1AD9DB3CC0BC}"/>
                </a:ext>
              </a:extLst>
            </p:cNvPr>
            <p:cNvSpPr/>
            <p:nvPr/>
          </p:nvSpPr>
          <p:spPr>
            <a:xfrm>
              <a:off x="4571915" y="3589175"/>
              <a:ext cx="3861900" cy="471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5486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1700" dirty="0" err="1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Sorojnin</a:t>
              </a: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a</a:t>
              </a:r>
              <a:r>
                <a:rPr lang="en-IN" sz="1700" dirty="0" err="1">
                  <a:solidFill>
                    <a:srgbClr val="FFFFFF"/>
                  </a:solidFill>
                  <a:latin typeface="Fira Sans Extra Condensed Medium"/>
                  <a:sym typeface="Fira Sans Extra Condensed Medium"/>
                </a:rPr>
                <a:t>idu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25" name="Google Shape;227;p18">
              <a:extLst>
                <a:ext uri="{FF2B5EF4-FFF2-40B4-BE49-F238E27FC236}">
                  <a16:creationId xmlns:a16="http://schemas.microsoft.com/office/drawing/2014/main" id="{CDBF5AE6-82D5-9F17-5887-39E0E7C0D132}"/>
                </a:ext>
              </a:extLst>
            </p:cNvPr>
            <p:cNvSpPr txBox="1"/>
            <p:nvPr/>
          </p:nvSpPr>
          <p:spPr>
            <a:xfrm>
              <a:off x="6188466" y="2857393"/>
              <a:ext cx="1736692" cy="986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latin typeface="Roboto"/>
                  <a:ea typeface="Roboto"/>
                  <a:cs typeface="Roboto"/>
                  <a:sym typeface="Roboto"/>
                </a:rPr>
                <a:t>231FA04739</a:t>
              </a:r>
              <a:endParaRPr sz="16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228;p18">
              <a:extLst>
                <a:ext uri="{FF2B5EF4-FFF2-40B4-BE49-F238E27FC236}">
                  <a16:creationId xmlns:a16="http://schemas.microsoft.com/office/drawing/2014/main" id="{E8947908-0727-AEAA-8C83-427E39770645}"/>
                </a:ext>
              </a:extLst>
            </p:cNvPr>
            <p:cNvSpPr/>
            <p:nvPr/>
          </p:nvSpPr>
          <p:spPr>
            <a:xfrm>
              <a:off x="7990183" y="3634821"/>
              <a:ext cx="380400" cy="38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29;p18">
            <a:extLst>
              <a:ext uri="{FF2B5EF4-FFF2-40B4-BE49-F238E27FC236}">
                <a16:creationId xmlns:a16="http://schemas.microsoft.com/office/drawing/2014/main" id="{7C17620A-722E-C80F-56E9-1E58B7B036DF}"/>
              </a:ext>
            </a:extLst>
          </p:cNvPr>
          <p:cNvGrpSpPr/>
          <p:nvPr/>
        </p:nvGrpSpPr>
        <p:grpSpPr>
          <a:xfrm>
            <a:off x="9136819" y="2221809"/>
            <a:ext cx="210895" cy="210895"/>
            <a:chOff x="5049725" y="249400"/>
            <a:chExt cx="481825" cy="481825"/>
          </a:xfrm>
        </p:grpSpPr>
        <p:sp>
          <p:nvSpPr>
            <p:cNvPr id="28" name="Google Shape;230;p18">
              <a:extLst>
                <a:ext uri="{FF2B5EF4-FFF2-40B4-BE49-F238E27FC236}">
                  <a16:creationId xmlns:a16="http://schemas.microsoft.com/office/drawing/2014/main" id="{F3763F01-F90B-B1BD-7BAF-E2324EBEE367}"/>
                </a:ext>
              </a:extLst>
            </p:cNvPr>
            <p:cNvSpPr/>
            <p:nvPr/>
          </p:nvSpPr>
          <p:spPr>
            <a:xfrm>
              <a:off x="5191775" y="560925"/>
              <a:ext cx="197625" cy="170300"/>
            </a:xfrm>
            <a:custGeom>
              <a:avLst/>
              <a:gdLst/>
              <a:ahLst/>
              <a:cxnLst/>
              <a:rect l="l" t="t" r="r" b="b"/>
              <a:pathLst>
                <a:path w="7905" h="6812" extrusionOk="0">
                  <a:moveTo>
                    <a:pt x="6213" y="1129"/>
                  </a:moveTo>
                  <a:cubicBezTo>
                    <a:pt x="6523" y="1129"/>
                    <a:pt x="6776" y="1379"/>
                    <a:pt x="6776" y="1693"/>
                  </a:cubicBezTo>
                  <a:cubicBezTo>
                    <a:pt x="6776" y="2006"/>
                    <a:pt x="6523" y="2259"/>
                    <a:pt x="6213" y="2259"/>
                  </a:cubicBezTo>
                  <a:lnTo>
                    <a:pt x="1696" y="2259"/>
                  </a:lnTo>
                  <a:cubicBezTo>
                    <a:pt x="1383" y="2259"/>
                    <a:pt x="1130" y="2006"/>
                    <a:pt x="1130" y="1693"/>
                  </a:cubicBezTo>
                  <a:cubicBezTo>
                    <a:pt x="1130" y="1379"/>
                    <a:pt x="1383" y="1129"/>
                    <a:pt x="1696" y="1129"/>
                  </a:cubicBezTo>
                  <a:close/>
                  <a:moveTo>
                    <a:pt x="6213" y="3388"/>
                  </a:moveTo>
                  <a:cubicBezTo>
                    <a:pt x="6523" y="3388"/>
                    <a:pt x="6776" y="3638"/>
                    <a:pt x="6776" y="3951"/>
                  </a:cubicBezTo>
                  <a:cubicBezTo>
                    <a:pt x="6776" y="4264"/>
                    <a:pt x="6523" y="4517"/>
                    <a:pt x="6213" y="4517"/>
                  </a:cubicBezTo>
                  <a:lnTo>
                    <a:pt x="1696" y="4517"/>
                  </a:lnTo>
                  <a:cubicBezTo>
                    <a:pt x="1383" y="4517"/>
                    <a:pt x="1130" y="4264"/>
                    <a:pt x="1130" y="3951"/>
                  </a:cubicBezTo>
                  <a:cubicBezTo>
                    <a:pt x="1130" y="3638"/>
                    <a:pt x="1383" y="3388"/>
                    <a:pt x="1696" y="3388"/>
                  </a:cubicBezTo>
                  <a:close/>
                  <a:moveTo>
                    <a:pt x="0" y="0"/>
                  </a:moveTo>
                  <a:lnTo>
                    <a:pt x="0" y="6249"/>
                  </a:lnTo>
                  <a:cubicBezTo>
                    <a:pt x="0" y="6559"/>
                    <a:pt x="253" y="6812"/>
                    <a:pt x="567" y="6812"/>
                  </a:cubicBezTo>
                  <a:lnTo>
                    <a:pt x="7342" y="6812"/>
                  </a:lnTo>
                  <a:cubicBezTo>
                    <a:pt x="7652" y="6812"/>
                    <a:pt x="7905" y="6559"/>
                    <a:pt x="7905" y="6249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231;p18">
              <a:extLst>
                <a:ext uri="{FF2B5EF4-FFF2-40B4-BE49-F238E27FC236}">
                  <a16:creationId xmlns:a16="http://schemas.microsoft.com/office/drawing/2014/main" id="{ED3AF045-F296-06DB-7672-E24DEEC37E8B}"/>
                </a:ext>
              </a:extLst>
            </p:cNvPr>
            <p:cNvSpPr/>
            <p:nvPr/>
          </p:nvSpPr>
          <p:spPr>
            <a:xfrm>
              <a:off x="5049725" y="249400"/>
              <a:ext cx="481825" cy="396225"/>
            </a:xfrm>
            <a:custGeom>
              <a:avLst/>
              <a:gdLst/>
              <a:ahLst/>
              <a:cxnLst/>
              <a:rect l="l" t="t" r="r" b="b"/>
              <a:pathLst>
                <a:path w="19273" h="15849" extrusionOk="0">
                  <a:moveTo>
                    <a:pt x="4553" y="4518"/>
                  </a:moveTo>
                  <a:lnTo>
                    <a:pt x="4553" y="5686"/>
                  </a:lnTo>
                  <a:lnTo>
                    <a:pt x="3424" y="5686"/>
                  </a:lnTo>
                  <a:lnTo>
                    <a:pt x="3424" y="4948"/>
                  </a:lnTo>
                  <a:cubicBezTo>
                    <a:pt x="3424" y="4710"/>
                    <a:pt x="3617" y="4518"/>
                    <a:pt x="3852" y="4518"/>
                  </a:cubicBezTo>
                  <a:close/>
                  <a:moveTo>
                    <a:pt x="15418" y="4518"/>
                  </a:moveTo>
                  <a:cubicBezTo>
                    <a:pt x="15653" y="4518"/>
                    <a:pt x="15845" y="4710"/>
                    <a:pt x="15845" y="4948"/>
                  </a:cubicBezTo>
                  <a:lnTo>
                    <a:pt x="15845" y="5686"/>
                  </a:lnTo>
                  <a:lnTo>
                    <a:pt x="14716" y="5686"/>
                  </a:lnTo>
                  <a:lnTo>
                    <a:pt x="14716" y="4518"/>
                  </a:lnTo>
                  <a:close/>
                  <a:moveTo>
                    <a:pt x="10199" y="1130"/>
                  </a:moveTo>
                  <a:lnTo>
                    <a:pt x="10199" y="3954"/>
                  </a:lnTo>
                  <a:cubicBezTo>
                    <a:pt x="10199" y="4265"/>
                    <a:pt x="10452" y="4518"/>
                    <a:pt x="10765" y="4518"/>
                  </a:cubicBezTo>
                  <a:lnTo>
                    <a:pt x="13587" y="4518"/>
                  </a:lnTo>
                  <a:lnTo>
                    <a:pt x="13587" y="6815"/>
                  </a:lnTo>
                  <a:lnTo>
                    <a:pt x="5682" y="6815"/>
                  </a:lnTo>
                  <a:lnTo>
                    <a:pt x="5682" y="1130"/>
                  </a:lnTo>
                  <a:close/>
                  <a:moveTo>
                    <a:pt x="16412" y="9074"/>
                  </a:moveTo>
                  <a:cubicBezTo>
                    <a:pt x="16722" y="9074"/>
                    <a:pt x="16975" y="9324"/>
                    <a:pt x="16975" y="9637"/>
                  </a:cubicBezTo>
                  <a:cubicBezTo>
                    <a:pt x="16975" y="9950"/>
                    <a:pt x="16722" y="10203"/>
                    <a:pt x="16412" y="10203"/>
                  </a:cubicBezTo>
                  <a:lnTo>
                    <a:pt x="15282" y="10203"/>
                  </a:lnTo>
                  <a:cubicBezTo>
                    <a:pt x="14969" y="10203"/>
                    <a:pt x="14716" y="9950"/>
                    <a:pt x="14716" y="9637"/>
                  </a:cubicBezTo>
                  <a:cubicBezTo>
                    <a:pt x="14716" y="9324"/>
                    <a:pt x="14969" y="9074"/>
                    <a:pt x="15282" y="9074"/>
                  </a:cubicBezTo>
                  <a:close/>
                  <a:moveTo>
                    <a:pt x="10782" y="1"/>
                  </a:moveTo>
                  <a:cubicBezTo>
                    <a:pt x="10776" y="1"/>
                    <a:pt x="10771" y="1"/>
                    <a:pt x="10765" y="1"/>
                  </a:cubicBezTo>
                  <a:lnTo>
                    <a:pt x="5119" y="1"/>
                  </a:lnTo>
                  <a:cubicBezTo>
                    <a:pt x="4806" y="1"/>
                    <a:pt x="4553" y="254"/>
                    <a:pt x="4553" y="567"/>
                  </a:cubicBezTo>
                  <a:lnTo>
                    <a:pt x="4553" y="3388"/>
                  </a:lnTo>
                  <a:lnTo>
                    <a:pt x="3852" y="3388"/>
                  </a:lnTo>
                  <a:cubicBezTo>
                    <a:pt x="2993" y="3388"/>
                    <a:pt x="2295" y="4087"/>
                    <a:pt x="2295" y="4948"/>
                  </a:cubicBezTo>
                  <a:lnTo>
                    <a:pt x="2295" y="5686"/>
                  </a:lnTo>
                  <a:lnTo>
                    <a:pt x="1693" y="5686"/>
                  </a:lnTo>
                  <a:cubicBezTo>
                    <a:pt x="756" y="5686"/>
                    <a:pt x="0" y="6442"/>
                    <a:pt x="0" y="7378"/>
                  </a:cubicBezTo>
                  <a:lnTo>
                    <a:pt x="0" y="14154"/>
                  </a:lnTo>
                  <a:cubicBezTo>
                    <a:pt x="0" y="15090"/>
                    <a:pt x="756" y="15846"/>
                    <a:pt x="1693" y="15849"/>
                  </a:cubicBezTo>
                  <a:lnTo>
                    <a:pt x="4553" y="15849"/>
                  </a:lnTo>
                  <a:lnTo>
                    <a:pt x="4553" y="12461"/>
                  </a:lnTo>
                  <a:lnTo>
                    <a:pt x="3990" y="12461"/>
                  </a:lnTo>
                  <a:cubicBezTo>
                    <a:pt x="3677" y="12461"/>
                    <a:pt x="3424" y="12208"/>
                    <a:pt x="3424" y="11895"/>
                  </a:cubicBezTo>
                  <a:cubicBezTo>
                    <a:pt x="3424" y="11582"/>
                    <a:pt x="3677" y="11332"/>
                    <a:pt x="3990" y="11332"/>
                  </a:cubicBezTo>
                  <a:lnTo>
                    <a:pt x="15282" y="11332"/>
                  </a:lnTo>
                  <a:cubicBezTo>
                    <a:pt x="15593" y="11332"/>
                    <a:pt x="15845" y="11582"/>
                    <a:pt x="15845" y="11895"/>
                  </a:cubicBezTo>
                  <a:cubicBezTo>
                    <a:pt x="15845" y="12208"/>
                    <a:pt x="15593" y="12461"/>
                    <a:pt x="15282" y="12461"/>
                  </a:cubicBezTo>
                  <a:lnTo>
                    <a:pt x="14716" y="12461"/>
                  </a:lnTo>
                  <a:lnTo>
                    <a:pt x="14716" y="15849"/>
                  </a:lnTo>
                  <a:lnTo>
                    <a:pt x="17541" y="15849"/>
                  </a:lnTo>
                  <a:cubicBezTo>
                    <a:pt x="18474" y="15849"/>
                    <a:pt x="19272" y="15087"/>
                    <a:pt x="19272" y="14154"/>
                  </a:cubicBezTo>
                  <a:lnTo>
                    <a:pt x="19272" y="7378"/>
                  </a:lnTo>
                  <a:cubicBezTo>
                    <a:pt x="19272" y="6445"/>
                    <a:pt x="18474" y="5686"/>
                    <a:pt x="17541" y="5686"/>
                  </a:cubicBezTo>
                  <a:lnTo>
                    <a:pt x="16975" y="5686"/>
                  </a:lnTo>
                  <a:lnTo>
                    <a:pt x="16975" y="4948"/>
                  </a:lnTo>
                  <a:cubicBezTo>
                    <a:pt x="16975" y="4087"/>
                    <a:pt x="16276" y="3388"/>
                    <a:pt x="15418" y="3388"/>
                  </a:cubicBezTo>
                  <a:lnTo>
                    <a:pt x="14385" y="3388"/>
                  </a:lnTo>
                  <a:cubicBezTo>
                    <a:pt x="11026" y="30"/>
                    <a:pt x="11079" y="1"/>
                    <a:pt x="10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0" name="Google Shape;232;p18">
            <a:extLst>
              <a:ext uri="{FF2B5EF4-FFF2-40B4-BE49-F238E27FC236}">
                <a16:creationId xmlns:a16="http://schemas.microsoft.com/office/drawing/2014/main" id="{DC7BB779-4751-ADA4-2B45-440C83E8E3EB}"/>
              </a:ext>
            </a:extLst>
          </p:cNvPr>
          <p:cNvGrpSpPr/>
          <p:nvPr/>
        </p:nvGrpSpPr>
        <p:grpSpPr>
          <a:xfrm>
            <a:off x="9136819" y="4358547"/>
            <a:ext cx="210895" cy="210895"/>
            <a:chOff x="5660400" y="238125"/>
            <a:chExt cx="481825" cy="481825"/>
          </a:xfrm>
        </p:grpSpPr>
        <p:sp>
          <p:nvSpPr>
            <p:cNvPr id="31" name="Google Shape;233;p18">
              <a:extLst>
                <a:ext uri="{FF2B5EF4-FFF2-40B4-BE49-F238E27FC236}">
                  <a16:creationId xmlns:a16="http://schemas.microsoft.com/office/drawing/2014/main" id="{36F9A992-6B04-5154-68A7-46CCEBB0E2A2}"/>
                </a:ext>
              </a:extLst>
            </p:cNvPr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234;p18">
              <a:extLst>
                <a:ext uri="{FF2B5EF4-FFF2-40B4-BE49-F238E27FC236}">
                  <a16:creationId xmlns:a16="http://schemas.microsoft.com/office/drawing/2014/main" id="{92D90824-EC10-1B8E-2027-E8B954127F08}"/>
                </a:ext>
              </a:extLst>
            </p:cNvPr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3" name="Google Shape;235;p18">
            <a:extLst>
              <a:ext uri="{FF2B5EF4-FFF2-40B4-BE49-F238E27FC236}">
                <a16:creationId xmlns:a16="http://schemas.microsoft.com/office/drawing/2014/main" id="{708D2103-B569-F531-792B-E3AB0C936C47}"/>
              </a:ext>
            </a:extLst>
          </p:cNvPr>
          <p:cNvSpPr/>
          <p:nvPr/>
        </p:nvSpPr>
        <p:spPr>
          <a:xfrm>
            <a:off x="1931732" y="4358678"/>
            <a:ext cx="187861" cy="210895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4" name="Google Shape;236;p18">
            <a:extLst>
              <a:ext uri="{FF2B5EF4-FFF2-40B4-BE49-F238E27FC236}">
                <a16:creationId xmlns:a16="http://schemas.microsoft.com/office/drawing/2014/main" id="{4DDEBECE-61D0-320B-A10F-6FF6FA154D2F}"/>
              </a:ext>
            </a:extLst>
          </p:cNvPr>
          <p:cNvGrpSpPr/>
          <p:nvPr/>
        </p:nvGrpSpPr>
        <p:grpSpPr>
          <a:xfrm>
            <a:off x="1932980" y="2221835"/>
            <a:ext cx="185366" cy="210895"/>
            <a:chOff x="6264525" y="842250"/>
            <a:chExt cx="423500" cy="481825"/>
          </a:xfrm>
        </p:grpSpPr>
        <p:sp>
          <p:nvSpPr>
            <p:cNvPr id="35" name="Google Shape;237;p18">
              <a:extLst>
                <a:ext uri="{FF2B5EF4-FFF2-40B4-BE49-F238E27FC236}">
                  <a16:creationId xmlns:a16="http://schemas.microsoft.com/office/drawing/2014/main" id="{4B056116-B510-DE86-49A9-4B5CF688C00B}"/>
                </a:ext>
              </a:extLst>
            </p:cNvPr>
            <p:cNvSpPr/>
            <p:nvPr/>
          </p:nvSpPr>
          <p:spPr>
            <a:xfrm>
              <a:off x="6264525" y="1033450"/>
              <a:ext cx="135300" cy="266450"/>
            </a:xfrm>
            <a:custGeom>
              <a:avLst/>
              <a:gdLst/>
              <a:ahLst/>
              <a:cxnLst/>
              <a:rect l="l" t="t" r="r" b="b"/>
              <a:pathLst>
                <a:path w="5412" h="10658" extrusionOk="0">
                  <a:moveTo>
                    <a:pt x="1" y="1"/>
                  </a:moveTo>
                  <a:lnTo>
                    <a:pt x="1" y="9932"/>
                  </a:lnTo>
                  <a:cubicBezTo>
                    <a:pt x="1" y="10182"/>
                    <a:pt x="61" y="10429"/>
                    <a:pt x="169" y="10658"/>
                  </a:cubicBezTo>
                  <a:lnTo>
                    <a:pt x="5412" y="54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" name="Google Shape;238;p18">
              <a:extLst>
                <a:ext uri="{FF2B5EF4-FFF2-40B4-BE49-F238E27FC236}">
                  <a16:creationId xmlns:a16="http://schemas.microsoft.com/office/drawing/2014/main" id="{201D3DD0-2310-742B-ACDF-8B7D352F9C3A}"/>
                </a:ext>
              </a:extLst>
            </p:cNvPr>
            <p:cNvSpPr/>
            <p:nvPr/>
          </p:nvSpPr>
          <p:spPr>
            <a:xfrm>
              <a:off x="6552700" y="1033450"/>
              <a:ext cx="135325" cy="266450"/>
            </a:xfrm>
            <a:custGeom>
              <a:avLst/>
              <a:gdLst/>
              <a:ahLst/>
              <a:cxnLst/>
              <a:rect l="l" t="t" r="r" b="b"/>
              <a:pathLst>
                <a:path w="5413" h="10658" extrusionOk="0">
                  <a:moveTo>
                    <a:pt x="5412" y="1"/>
                  </a:moveTo>
                  <a:lnTo>
                    <a:pt x="1" y="5415"/>
                  </a:lnTo>
                  <a:lnTo>
                    <a:pt x="5243" y="10658"/>
                  </a:lnTo>
                  <a:cubicBezTo>
                    <a:pt x="5352" y="10429"/>
                    <a:pt x="5412" y="10182"/>
                    <a:pt x="5412" y="9932"/>
                  </a:cubicBezTo>
                  <a:lnTo>
                    <a:pt x="54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239;p18">
              <a:extLst>
                <a:ext uri="{FF2B5EF4-FFF2-40B4-BE49-F238E27FC236}">
                  <a16:creationId xmlns:a16="http://schemas.microsoft.com/office/drawing/2014/main" id="{1A813C71-381A-5AFF-74B8-8F26FFB63DD9}"/>
                </a:ext>
              </a:extLst>
            </p:cNvPr>
            <p:cNvSpPr/>
            <p:nvPr/>
          </p:nvSpPr>
          <p:spPr>
            <a:xfrm>
              <a:off x="6462150" y="985275"/>
              <a:ext cx="28025" cy="28250"/>
            </a:xfrm>
            <a:custGeom>
              <a:avLst/>
              <a:gdLst/>
              <a:ahLst/>
              <a:cxnLst/>
              <a:rect l="l" t="t" r="r" b="b"/>
              <a:pathLst>
                <a:path w="1121" h="1130" extrusionOk="0">
                  <a:moveTo>
                    <a:pt x="566" y="1"/>
                  </a:moveTo>
                  <a:cubicBezTo>
                    <a:pt x="253" y="1"/>
                    <a:pt x="0" y="254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955" y="1130"/>
                    <a:pt x="1060" y="862"/>
                    <a:pt x="1120" y="528"/>
                  </a:cubicBezTo>
                  <a:cubicBezTo>
                    <a:pt x="1102" y="233"/>
                    <a:pt x="862" y="4"/>
                    <a:pt x="5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240;p18">
              <a:extLst>
                <a:ext uri="{FF2B5EF4-FFF2-40B4-BE49-F238E27FC236}">
                  <a16:creationId xmlns:a16="http://schemas.microsoft.com/office/drawing/2014/main" id="{2F21DA4F-364F-35BC-4CBA-653DAB0804ED}"/>
                </a:ext>
              </a:extLst>
            </p:cNvPr>
            <p:cNvSpPr/>
            <p:nvPr/>
          </p:nvSpPr>
          <p:spPr>
            <a:xfrm>
              <a:off x="6288775" y="1182900"/>
              <a:ext cx="375075" cy="141175"/>
            </a:xfrm>
            <a:custGeom>
              <a:avLst/>
              <a:gdLst/>
              <a:ahLst/>
              <a:cxnLst/>
              <a:rect l="l" t="t" r="r" b="b"/>
              <a:pathLst>
                <a:path w="15003" h="5647" extrusionOk="0">
                  <a:moveTo>
                    <a:pt x="5475" y="0"/>
                  </a:moveTo>
                  <a:lnTo>
                    <a:pt x="0" y="5478"/>
                  </a:lnTo>
                  <a:cubicBezTo>
                    <a:pt x="226" y="5586"/>
                    <a:pt x="473" y="5646"/>
                    <a:pt x="726" y="5646"/>
                  </a:cubicBezTo>
                  <a:lnTo>
                    <a:pt x="14277" y="5646"/>
                  </a:lnTo>
                  <a:cubicBezTo>
                    <a:pt x="14527" y="5646"/>
                    <a:pt x="14774" y="5586"/>
                    <a:pt x="15002" y="5478"/>
                  </a:cubicBez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241;p18">
              <a:extLst>
                <a:ext uri="{FF2B5EF4-FFF2-40B4-BE49-F238E27FC236}">
                  <a16:creationId xmlns:a16="http://schemas.microsoft.com/office/drawing/2014/main" id="{38A7D6AC-6022-867A-3CE2-0BD19167F43E}"/>
                </a:ext>
              </a:extLst>
            </p:cNvPr>
            <p:cNvSpPr/>
            <p:nvPr/>
          </p:nvSpPr>
          <p:spPr>
            <a:xfrm>
              <a:off x="6278675" y="965325"/>
              <a:ext cx="42350" cy="84725"/>
            </a:xfrm>
            <a:custGeom>
              <a:avLst/>
              <a:gdLst/>
              <a:ahLst/>
              <a:cxnLst/>
              <a:rect l="l" t="t" r="r" b="b"/>
              <a:pathLst>
                <a:path w="1694" h="3389" extrusionOk="0">
                  <a:moveTo>
                    <a:pt x="1693" y="1"/>
                  </a:moveTo>
                  <a:lnTo>
                    <a:pt x="1" y="1693"/>
                  </a:lnTo>
                  <a:lnTo>
                    <a:pt x="1693" y="3388"/>
                  </a:lnTo>
                  <a:lnTo>
                    <a:pt x="16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242;p18">
              <a:extLst>
                <a:ext uri="{FF2B5EF4-FFF2-40B4-BE49-F238E27FC236}">
                  <a16:creationId xmlns:a16="http://schemas.microsoft.com/office/drawing/2014/main" id="{7340AE99-626A-2A73-254D-73DE1BF09645}"/>
                </a:ext>
              </a:extLst>
            </p:cNvPr>
            <p:cNvSpPr/>
            <p:nvPr/>
          </p:nvSpPr>
          <p:spPr>
            <a:xfrm>
              <a:off x="6631525" y="965325"/>
              <a:ext cx="42400" cy="84725"/>
            </a:xfrm>
            <a:custGeom>
              <a:avLst/>
              <a:gdLst/>
              <a:ahLst/>
              <a:cxnLst/>
              <a:rect l="l" t="t" r="r" b="b"/>
              <a:pathLst>
                <a:path w="1696" h="3389" extrusionOk="0">
                  <a:moveTo>
                    <a:pt x="1" y="1"/>
                  </a:moveTo>
                  <a:lnTo>
                    <a:pt x="1" y="3388"/>
                  </a:lnTo>
                  <a:lnTo>
                    <a:pt x="1696" y="16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243;p18">
              <a:extLst>
                <a:ext uri="{FF2B5EF4-FFF2-40B4-BE49-F238E27FC236}">
                  <a16:creationId xmlns:a16="http://schemas.microsoft.com/office/drawing/2014/main" id="{2430E320-8F40-DB89-25D2-4E5D5BF6F4B1}"/>
                </a:ext>
              </a:extLst>
            </p:cNvPr>
            <p:cNvSpPr/>
            <p:nvPr/>
          </p:nvSpPr>
          <p:spPr>
            <a:xfrm>
              <a:off x="6349225" y="842250"/>
              <a:ext cx="254100" cy="312425"/>
            </a:xfrm>
            <a:custGeom>
              <a:avLst/>
              <a:gdLst/>
              <a:ahLst/>
              <a:cxnLst/>
              <a:rect l="l" t="t" r="r" b="b"/>
              <a:pathLst>
                <a:path w="10164" h="12497" extrusionOk="0">
                  <a:moveTo>
                    <a:pt x="5081" y="2333"/>
                  </a:moveTo>
                  <a:cubicBezTo>
                    <a:pt x="5779" y="2333"/>
                    <a:pt x="6477" y="2518"/>
                    <a:pt x="7098" y="2885"/>
                  </a:cubicBezTo>
                  <a:cubicBezTo>
                    <a:pt x="8299" y="3596"/>
                    <a:pt x="9034" y="4891"/>
                    <a:pt x="9034" y="6288"/>
                  </a:cubicBezTo>
                  <a:cubicBezTo>
                    <a:pt x="9034" y="7293"/>
                    <a:pt x="8207" y="7981"/>
                    <a:pt x="7335" y="7981"/>
                  </a:cubicBezTo>
                  <a:cubicBezTo>
                    <a:pt x="6947" y="7981"/>
                    <a:pt x="6550" y="7845"/>
                    <a:pt x="6213" y="7540"/>
                  </a:cubicBezTo>
                  <a:cubicBezTo>
                    <a:pt x="5894" y="7824"/>
                    <a:pt x="5492" y="7968"/>
                    <a:pt x="5089" y="7968"/>
                  </a:cubicBezTo>
                  <a:cubicBezTo>
                    <a:pt x="4739" y="7968"/>
                    <a:pt x="4388" y="7860"/>
                    <a:pt x="4090" y="7640"/>
                  </a:cubicBezTo>
                  <a:cubicBezTo>
                    <a:pt x="3448" y="7170"/>
                    <a:pt x="3222" y="6315"/>
                    <a:pt x="3551" y="5589"/>
                  </a:cubicBezTo>
                  <a:cubicBezTo>
                    <a:pt x="3826" y="4973"/>
                    <a:pt x="4435" y="4593"/>
                    <a:pt x="5087" y="4593"/>
                  </a:cubicBezTo>
                  <a:cubicBezTo>
                    <a:pt x="5205" y="4593"/>
                    <a:pt x="5325" y="4606"/>
                    <a:pt x="5445" y="4632"/>
                  </a:cubicBezTo>
                  <a:cubicBezTo>
                    <a:pt x="6225" y="4800"/>
                    <a:pt x="6779" y="5490"/>
                    <a:pt x="6776" y="6288"/>
                  </a:cubicBezTo>
                  <a:cubicBezTo>
                    <a:pt x="6776" y="6660"/>
                    <a:pt x="7058" y="6846"/>
                    <a:pt x="7340" y="6846"/>
                  </a:cubicBezTo>
                  <a:cubicBezTo>
                    <a:pt x="7623" y="6846"/>
                    <a:pt x="7905" y="6660"/>
                    <a:pt x="7905" y="6288"/>
                  </a:cubicBezTo>
                  <a:cubicBezTo>
                    <a:pt x="7905" y="5288"/>
                    <a:pt x="7378" y="4367"/>
                    <a:pt x="6520" y="3858"/>
                  </a:cubicBezTo>
                  <a:cubicBezTo>
                    <a:pt x="6076" y="3595"/>
                    <a:pt x="5578" y="3463"/>
                    <a:pt x="5080" y="3463"/>
                  </a:cubicBezTo>
                  <a:cubicBezTo>
                    <a:pt x="4614" y="3463"/>
                    <a:pt x="4147" y="3578"/>
                    <a:pt x="3725" y="3810"/>
                  </a:cubicBezTo>
                  <a:cubicBezTo>
                    <a:pt x="2849" y="4288"/>
                    <a:pt x="2295" y="5195"/>
                    <a:pt x="2262" y="6191"/>
                  </a:cubicBezTo>
                  <a:cubicBezTo>
                    <a:pt x="2226" y="7188"/>
                    <a:pt x="2723" y="8128"/>
                    <a:pt x="3563" y="8667"/>
                  </a:cubicBezTo>
                  <a:cubicBezTo>
                    <a:pt x="4023" y="8960"/>
                    <a:pt x="4541" y="9107"/>
                    <a:pt x="5077" y="9107"/>
                  </a:cubicBezTo>
                  <a:cubicBezTo>
                    <a:pt x="5519" y="9107"/>
                    <a:pt x="5973" y="9007"/>
                    <a:pt x="6414" y="8805"/>
                  </a:cubicBezTo>
                  <a:cubicBezTo>
                    <a:pt x="6502" y="8765"/>
                    <a:pt x="6585" y="8746"/>
                    <a:pt x="6664" y="8746"/>
                  </a:cubicBezTo>
                  <a:cubicBezTo>
                    <a:pt x="7191" y="8746"/>
                    <a:pt x="7476" y="9559"/>
                    <a:pt x="6884" y="9832"/>
                  </a:cubicBezTo>
                  <a:cubicBezTo>
                    <a:pt x="6300" y="10100"/>
                    <a:pt x="5685" y="10239"/>
                    <a:pt x="5077" y="10239"/>
                  </a:cubicBezTo>
                  <a:cubicBezTo>
                    <a:pt x="4340" y="10239"/>
                    <a:pt x="3611" y="10036"/>
                    <a:pt x="2954" y="9615"/>
                  </a:cubicBezTo>
                  <a:cubicBezTo>
                    <a:pt x="1777" y="8865"/>
                    <a:pt x="1084" y="7546"/>
                    <a:pt x="1133" y="6152"/>
                  </a:cubicBezTo>
                  <a:cubicBezTo>
                    <a:pt x="1178" y="4755"/>
                    <a:pt x="1958" y="3490"/>
                    <a:pt x="3183" y="2819"/>
                  </a:cubicBezTo>
                  <a:cubicBezTo>
                    <a:pt x="3775" y="2494"/>
                    <a:pt x="4429" y="2333"/>
                    <a:pt x="5081" y="2333"/>
                  </a:cubicBezTo>
                  <a:close/>
                  <a:moveTo>
                    <a:pt x="618" y="0"/>
                  </a:moveTo>
                  <a:cubicBezTo>
                    <a:pt x="277" y="0"/>
                    <a:pt x="0" y="277"/>
                    <a:pt x="0" y="618"/>
                  </a:cubicBezTo>
                  <a:lnTo>
                    <a:pt x="0" y="9441"/>
                  </a:lnTo>
                  <a:lnTo>
                    <a:pt x="3057" y="12497"/>
                  </a:lnTo>
                  <a:lnTo>
                    <a:pt x="7107" y="12497"/>
                  </a:lnTo>
                  <a:lnTo>
                    <a:pt x="10163" y="9441"/>
                  </a:lnTo>
                  <a:lnTo>
                    <a:pt x="10163" y="723"/>
                  </a:lnTo>
                  <a:cubicBezTo>
                    <a:pt x="10163" y="326"/>
                    <a:pt x="9838" y="0"/>
                    <a:pt x="9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2" name="Google Shape;245;p18">
            <a:extLst>
              <a:ext uri="{FF2B5EF4-FFF2-40B4-BE49-F238E27FC236}">
                <a16:creationId xmlns:a16="http://schemas.microsoft.com/office/drawing/2014/main" id="{20E38C07-DB5B-00F5-96EB-15CAB2EA99DF}"/>
              </a:ext>
            </a:extLst>
          </p:cNvPr>
          <p:cNvGrpSpPr/>
          <p:nvPr/>
        </p:nvGrpSpPr>
        <p:grpSpPr>
          <a:xfrm>
            <a:off x="4291259" y="2053072"/>
            <a:ext cx="2685300" cy="2685300"/>
            <a:chOff x="3229375" y="1413975"/>
            <a:chExt cx="2685300" cy="2685300"/>
          </a:xfrm>
        </p:grpSpPr>
        <p:sp>
          <p:nvSpPr>
            <p:cNvPr id="43" name="Google Shape;246;p18">
              <a:extLst>
                <a:ext uri="{FF2B5EF4-FFF2-40B4-BE49-F238E27FC236}">
                  <a16:creationId xmlns:a16="http://schemas.microsoft.com/office/drawing/2014/main" id="{6DE312CE-A98E-B14E-808F-FBB2438B3E2E}"/>
                </a:ext>
              </a:extLst>
            </p:cNvPr>
            <p:cNvSpPr/>
            <p:nvPr/>
          </p:nvSpPr>
          <p:spPr>
            <a:xfrm>
              <a:off x="3229375" y="1413975"/>
              <a:ext cx="2685300" cy="2685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7;p18">
              <a:extLst>
                <a:ext uri="{FF2B5EF4-FFF2-40B4-BE49-F238E27FC236}">
                  <a16:creationId xmlns:a16="http://schemas.microsoft.com/office/drawing/2014/main" id="{34C64719-6E8C-7FB5-F441-367D691E49FE}"/>
                </a:ext>
              </a:extLst>
            </p:cNvPr>
            <p:cNvSpPr/>
            <p:nvPr/>
          </p:nvSpPr>
          <p:spPr>
            <a:xfrm>
              <a:off x="3479913" y="1664525"/>
              <a:ext cx="2184300" cy="21843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8;p18">
              <a:extLst>
                <a:ext uri="{FF2B5EF4-FFF2-40B4-BE49-F238E27FC236}">
                  <a16:creationId xmlns:a16="http://schemas.microsoft.com/office/drawing/2014/main" id="{67E70164-BD3E-5D73-76E2-8627B9D6ABC8}"/>
                </a:ext>
              </a:extLst>
            </p:cNvPr>
            <p:cNvSpPr/>
            <p:nvPr/>
          </p:nvSpPr>
          <p:spPr>
            <a:xfrm>
              <a:off x="3666663" y="1851275"/>
              <a:ext cx="1810800" cy="1810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2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Members</a:t>
              </a:r>
              <a:endParaRPr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" name="Google Shape;249;p18">
            <a:extLst>
              <a:ext uri="{FF2B5EF4-FFF2-40B4-BE49-F238E27FC236}">
                <a16:creationId xmlns:a16="http://schemas.microsoft.com/office/drawing/2014/main" id="{97734190-E265-C009-783A-D7AD9D559824}"/>
              </a:ext>
            </a:extLst>
          </p:cNvPr>
          <p:cNvSpPr/>
          <p:nvPr/>
        </p:nvSpPr>
        <p:spPr>
          <a:xfrm>
            <a:off x="5464276" y="2740795"/>
            <a:ext cx="339253" cy="318060"/>
          </a:xfrm>
          <a:custGeom>
            <a:avLst/>
            <a:gdLst/>
            <a:ahLst/>
            <a:cxnLst/>
            <a:rect l="l" t="t" r="r" b="b"/>
            <a:pathLst>
              <a:path w="19273" h="18069" extrusionOk="0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3" y="523811"/>
            <a:ext cx="5170860" cy="4869882"/>
          </a:xfrm>
        </p:spPr>
        <p:txBody>
          <a:bodyPr anchor="ctr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7827F-28D8-DB31-4A19-B0FEB42A97E9}"/>
              </a:ext>
            </a:extLst>
          </p:cNvPr>
          <p:cNvSpPr txBox="1"/>
          <p:nvPr/>
        </p:nvSpPr>
        <p:spPr>
          <a:xfrm>
            <a:off x="6267450" y="367039"/>
            <a:ext cx="6791325" cy="612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Abstract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Introduction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Technologies Used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Faculty Workflow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Step-by-Step Workflow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Task Assignment Logic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To-Do List Tab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Progress Tracker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Importance and Benefits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Comparison with Existing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ADB48-801E-A7D0-B9D2-CCD4D409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1F4A81-B57D-CAAE-B634-776984BA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3" y="523811"/>
            <a:ext cx="5170860" cy="4869882"/>
          </a:xfrm>
        </p:spPr>
        <p:txBody>
          <a:bodyPr anchor="ctr">
            <a:normAutofit/>
          </a:bodyPr>
          <a:lstStyle/>
          <a:p>
            <a:r>
              <a:rPr lang="en-IN" b="1" dirty="0"/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23498-F340-7604-0DF2-EE5B0798DFCF}"/>
              </a:ext>
            </a:extLst>
          </p:cNvPr>
          <p:cNvSpPr txBox="1"/>
          <p:nvPr/>
        </p:nvSpPr>
        <p:spPr>
          <a:xfrm>
            <a:off x="6415088" y="387144"/>
            <a:ext cx="5776911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a CRM system for workflow management  with different roles: Admin, Faculty, Student, and Parent.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focus is on automating the faculty's task assignment and student tracking system.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can manage their students, assign tasks, and track their progress in real-time.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 and provides a clear, structured interface for daily operations.</a:t>
            </a:r>
          </a:p>
        </p:txBody>
      </p:sp>
    </p:spTree>
    <p:extLst>
      <p:ext uri="{BB962C8B-B14F-4D97-AF65-F5344CB8AC3E}">
        <p14:creationId xmlns:p14="http://schemas.microsoft.com/office/powerpoint/2010/main" val="370701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7" y="592638"/>
            <a:ext cx="5160757" cy="2972990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D34E1-E92A-3CCA-2492-E7062A588B09}"/>
              </a:ext>
            </a:extLst>
          </p:cNvPr>
          <p:cNvSpPr txBox="1"/>
          <p:nvPr/>
        </p:nvSpPr>
        <p:spPr>
          <a:xfrm>
            <a:off x="6489908" y="592638"/>
            <a:ext cx="5425867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Daycare management involves continuous faculty-student interaction.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assigning and tracking student progress is time-consuming.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simplify the workflow for faculty by automating task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clean dashboard for managing tasks and monitoring each student’s progress.</a:t>
            </a:r>
          </a:p>
        </p:txBody>
      </p:sp>
    </p:spTree>
    <p:extLst>
      <p:ext uri="{BB962C8B-B14F-4D97-AF65-F5344CB8AC3E}">
        <p14:creationId xmlns:p14="http://schemas.microsoft.com/office/powerpoint/2010/main" val="163442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D291F2-4F3B-9988-830C-3A03B6B2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279" y="257175"/>
            <a:ext cx="8647721" cy="1185045"/>
          </a:xfrm>
        </p:spPr>
        <p:txBody>
          <a:bodyPr>
            <a:normAutofit/>
          </a:bodyPr>
          <a:lstStyle/>
          <a:p>
            <a:r>
              <a:rPr lang="en-IN" dirty="0"/>
              <a:t>Technologies Used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957EAB-1A32-A2FE-6656-37F9DA322C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268250" y="2140007"/>
            <a:ext cx="10404637" cy="423221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Flask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Tools:</a:t>
            </a:r>
          </a:p>
          <a:p>
            <a:pPr marL="360000" lvl="1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Browser localStorage (to store faculty login info)</a:t>
            </a:r>
          </a:p>
        </p:txBody>
      </p:sp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61FDD-F256-7200-530C-E735FEE3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99474A-A4DA-F756-8BE6-47DB4DA8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221" y="-100013"/>
            <a:ext cx="8647721" cy="1185045"/>
          </a:xfrm>
        </p:spPr>
        <p:txBody>
          <a:bodyPr>
            <a:normAutofit/>
          </a:bodyPr>
          <a:lstStyle/>
          <a:p>
            <a:r>
              <a:rPr lang="en-IN" sz="4400" dirty="0"/>
              <a:t>Faculty Workflow Overview</a:t>
            </a:r>
            <a:endParaRPr lang="en-IN" sz="4400" b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2820FC-B58D-5C00-CC02-79212950D8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99105" y="1770990"/>
            <a:ext cx="10404637" cy="4232218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logs in; their ID is saved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displays only the students linked to that faculty.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can add To-Do tasks which are auto-assigned to all their students.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can monitor student progress and contact students if needed.</a:t>
            </a:r>
          </a:p>
        </p:txBody>
      </p:sp>
    </p:spTree>
    <p:extLst>
      <p:ext uri="{BB962C8B-B14F-4D97-AF65-F5344CB8AC3E}">
        <p14:creationId xmlns:p14="http://schemas.microsoft.com/office/powerpoint/2010/main" val="415172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4372-FEA6-BB14-C73A-FBEC1A1B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CB51FC-3F98-574E-48B0-4707B92F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736" y="171450"/>
            <a:ext cx="8647721" cy="1185045"/>
          </a:xfrm>
        </p:spPr>
        <p:txBody>
          <a:bodyPr>
            <a:normAutofit/>
          </a:bodyPr>
          <a:lstStyle/>
          <a:p>
            <a:r>
              <a:rPr lang="en-IN" sz="4000" dirty="0"/>
              <a:t>Step-by-Step Workflow</a:t>
            </a:r>
            <a:endParaRPr lang="en-US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63CB3-1DD9-5769-25D6-C0EDAB5498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1118" y="1987299"/>
            <a:ext cx="10404637" cy="42322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logs in → ID is stored in browser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Students' tab shows only linked students.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adds To-Do task → System assigns it to all linked students.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progress is tracked automatically in a dedicated tracker table.</a:t>
            </a:r>
          </a:p>
        </p:txBody>
      </p:sp>
    </p:spTree>
    <p:extLst>
      <p:ext uri="{BB962C8B-B14F-4D97-AF65-F5344CB8AC3E}">
        <p14:creationId xmlns:p14="http://schemas.microsoft.com/office/powerpoint/2010/main" val="342353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45D3-8202-D94D-5602-3E971763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42D756-208F-A487-B28C-A30A133E839A}"/>
              </a:ext>
            </a:extLst>
          </p:cNvPr>
          <p:cNvSpPr txBox="1"/>
          <p:nvPr/>
        </p:nvSpPr>
        <p:spPr>
          <a:xfrm>
            <a:off x="3175360" y="46905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Task Assignment Logic</a:t>
            </a:r>
            <a:endParaRPr lang="en-IN" sz="4000" dirty="0">
              <a:latin typeface="Avenir Next LT Pro (Body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9961B-BCB4-14FC-14E1-F9F87EEF511C}"/>
              </a:ext>
            </a:extLst>
          </p:cNvPr>
          <p:cNvSpPr txBox="1"/>
          <p:nvPr/>
        </p:nvSpPr>
        <p:spPr>
          <a:xfrm>
            <a:off x="2618300" y="1659528"/>
            <a:ext cx="69554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task is saved in todo_list table with faculty ID.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student linked to that faculty, an entry is created in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student_progress table.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entry is initialized with a status like 'Not Completed.'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automatic assignment saves time and prevents manual errors.</a:t>
            </a:r>
          </a:p>
        </p:txBody>
      </p:sp>
    </p:spTree>
    <p:extLst>
      <p:ext uri="{BB962C8B-B14F-4D97-AF65-F5344CB8AC3E}">
        <p14:creationId xmlns:p14="http://schemas.microsoft.com/office/powerpoint/2010/main" val="53489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F09D-C218-4896-B2CF-43B1020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663" y="229827"/>
            <a:ext cx="8647721" cy="1185045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To-Do List Tab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B37E0-B539-4DB9-80C3-72553FF3ED13}"/>
              </a:ext>
            </a:extLst>
          </p:cNvPr>
          <p:cNvSpPr txBox="1"/>
          <p:nvPr/>
        </p:nvSpPr>
        <p:spPr>
          <a:xfrm>
            <a:off x="0" y="1525696"/>
            <a:ext cx="10276050" cy="4714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30D53-9254-43D5-9C1C-2773C45BF12F}"/>
              </a:ext>
            </a:extLst>
          </p:cNvPr>
          <p:cNvSpPr txBox="1"/>
          <p:nvPr/>
        </p:nvSpPr>
        <p:spPr>
          <a:xfrm>
            <a:off x="3529458" y="2586037"/>
            <a:ext cx="6571804" cy="224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Displays all tasks created by the faculty.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The 'Assigned To' column shows 'All'.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Simple interface to manage or delete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tasks if needed.</a:t>
            </a:r>
          </a:p>
        </p:txBody>
      </p:sp>
    </p:spTree>
    <p:extLst>
      <p:ext uri="{BB962C8B-B14F-4D97-AF65-F5344CB8AC3E}">
        <p14:creationId xmlns:p14="http://schemas.microsoft.com/office/powerpoint/2010/main" val="360682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F09D-C218-4896-B2CF-43B1020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50" y="0"/>
            <a:ext cx="8647721" cy="1185045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Progress Tracker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30D53-9254-43D5-9C1C-2773C45BF12F}"/>
              </a:ext>
            </a:extLst>
          </p:cNvPr>
          <p:cNvSpPr txBox="1"/>
          <p:nvPr/>
        </p:nvSpPr>
        <p:spPr>
          <a:xfrm>
            <a:off x="2400745" y="2257425"/>
            <a:ext cx="8643492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Shows all students and their task completion status.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Only shows students linked to the logged-in faculty.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Includes options to select a student and retrieve their phone number (for messaging).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Helps in monitoring performance and providing feedback.</a:t>
            </a:r>
          </a:p>
        </p:txBody>
      </p:sp>
    </p:spTree>
    <p:extLst>
      <p:ext uri="{BB962C8B-B14F-4D97-AF65-F5344CB8AC3E}">
        <p14:creationId xmlns:p14="http://schemas.microsoft.com/office/powerpoint/2010/main" val="408941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F09D-C218-4896-B2CF-43B1020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663" y="229827"/>
            <a:ext cx="8647721" cy="1185045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Importance and 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30D53-9254-43D5-9C1C-2773C45BF12F}"/>
              </a:ext>
            </a:extLst>
          </p:cNvPr>
          <p:cNvSpPr txBox="1"/>
          <p:nvPr/>
        </p:nvSpPr>
        <p:spPr>
          <a:xfrm>
            <a:off x="2210022" y="2200276"/>
            <a:ext cx="7771955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Automates task assignment for faculty.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Tracks student progress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User-friendly interface for fast access to important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Saves time, reduces manual errors, and improves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528936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F09D-C218-4896-B2CF-43B1020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663" y="229827"/>
            <a:ext cx="8647721" cy="1185045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B37E0-B539-4DB9-80C3-72553FF3ED13}"/>
              </a:ext>
            </a:extLst>
          </p:cNvPr>
          <p:cNvSpPr txBox="1"/>
          <p:nvPr/>
        </p:nvSpPr>
        <p:spPr>
          <a:xfrm>
            <a:off x="1139663" y="1602538"/>
            <a:ext cx="10276050" cy="4714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30D53-9254-43D5-9C1C-2773C45BF12F}"/>
              </a:ext>
            </a:extLst>
          </p:cNvPr>
          <p:cNvSpPr txBox="1"/>
          <p:nvPr/>
        </p:nvSpPr>
        <p:spPr>
          <a:xfrm>
            <a:off x="2524348" y="2273767"/>
            <a:ext cx="7143304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parent dashboard to view student progress.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Automation of SMS or Email notification system for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Analytics dashboard for faculty task insights.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suggestions to help faculty prioritize students needing attention.\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68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934812-6F0B-40C1-AC82-8639A93EC2C2}"/>
              </a:ext>
            </a:extLst>
          </p:cNvPr>
          <p:cNvSpPr txBox="1"/>
          <p:nvPr/>
        </p:nvSpPr>
        <p:spPr>
          <a:xfrm>
            <a:off x="1714500" y="328613"/>
            <a:ext cx="824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VIDEO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370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9E63-A374-BA04-473A-35E5C39B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1FED5-E0C6-42AB-4C3E-B600C718F5DA}"/>
              </a:ext>
            </a:extLst>
          </p:cNvPr>
          <p:cNvSpPr txBox="1"/>
          <p:nvPr/>
        </p:nvSpPr>
        <p:spPr>
          <a:xfrm>
            <a:off x="3886200" y="511285"/>
            <a:ext cx="3945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ECF77-5365-DA11-DA0A-1286EE4611C2}"/>
              </a:ext>
            </a:extLst>
          </p:cNvPr>
          <p:cNvSpPr txBox="1"/>
          <p:nvPr/>
        </p:nvSpPr>
        <p:spPr>
          <a:xfrm>
            <a:off x="1897625" y="2476193"/>
            <a:ext cx="913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daycare task management for faculty.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assigns tasks and tracks student progress.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communication and performance monitoring.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future upgrades like parent interaction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333606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57A12A-EEF3-CA24-1C0D-4AD6C260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94" y="3216226"/>
            <a:ext cx="7733329" cy="1189806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86C09-F420-40AE-93AA-C368DCF73FE2}">
  <ds:schemaRefs>
    <ds:schemaRef ds:uri="http://purl.org/dc/dcmitype/"/>
    <ds:schemaRef ds:uri="http://purl.org/dc/terms/"/>
    <ds:schemaRef ds:uri="71af3243-3dd4-4a8d-8c0d-dd76da1f02a5"/>
    <ds:schemaRef ds:uri="http://purl.org/dc/elements/1.1/"/>
    <ds:schemaRef ds:uri="http://schemas.microsoft.com/sharepoint/v3"/>
    <ds:schemaRef ds:uri="230e9df3-be65-4c73-a93b-d1236ebd677e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16c05727-aa75-4e4a-9b5f-8a80a1165891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32DBBDF-0415-4F4A-A72F-EB449088B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267E2-D0C1-458E-BA40-3B641CF83E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FrostyVTI</Template>
  <TotalTime>0</TotalTime>
  <Words>555</Words>
  <Application>Microsoft Office PowerPoint</Application>
  <PresentationFormat>Widescreen</PresentationFormat>
  <Paragraphs>94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Avenir Next LT Pro</vt:lpstr>
      <vt:lpstr>Avenir Next LT Pro (Body)</vt:lpstr>
      <vt:lpstr>Calibri</vt:lpstr>
      <vt:lpstr>Fira Sans Extra Condensed Medium</vt:lpstr>
      <vt:lpstr>Goudy Old Style</vt:lpstr>
      <vt:lpstr>Roboto</vt:lpstr>
      <vt:lpstr>Times New Roman</vt:lpstr>
      <vt:lpstr>Wingdings</vt:lpstr>
      <vt:lpstr>FrostyVTI</vt:lpstr>
      <vt:lpstr>CRM Workflow Management</vt:lpstr>
      <vt:lpstr>PowerPoint Presentation</vt:lpstr>
      <vt:lpstr>Content :</vt:lpstr>
      <vt:lpstr>Abstract</vt:lpstr>
      <vt:lpstr>Introduction</vt:lpstr>
      <vt:lpstr>Technologies Used</vt:lpstr>
      <vt:lpstr>Faculty Workflow Overview</vt:lpstr>
      <vt:lpstr>Step-by-Step Workflow</vt:lpstr>
      <vt:lpstr>PowerPoint Presentation</vt:lpstr>
      <vt:lpstr>To-Do List Tab</vt:lpstr>
      <vt:lpstr>Progress Tracker</vt:lpstr>
      <vt:lpstr>Importance and Benefits</vt:lpstr>
      <vt:lpstr>Future Enhancements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2023-12-10T15:14:12Z</dcterms:created>
  <dcterms:modified xsi:type="dcterms:W3CDTF">2025-05-28T09:07:16Z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